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7" r:id="rId2"/>
    <p:sldId id="320" r:id="rId3"/>
    <p:sldId id="321" r:id="rId4"/>
    <p:sldId id="322" r:id="rId5"/>
    <p:sldId id="323" r:id="rId6"/>
    <p:sldId id="324" r:id="rId7"/>
    <p:sldId id="326" r:id="rId8"/>
    <p:sldId id="339" r:id="rId9"/>
    <p:sldId id="327" r:id="rId10"/>
    <p:sldId id="329" r:id="rId11"/>
    <p:sldId id="330" r:id="rId12"/>
    <p:sldId id="331" r:id="rId13"/>
    <p:sldId id="332" r:id="rId14"/>
    <p:sldId id="333" r:id="rId15"/>
    <p:sldId id="334" r:id="rId16"/>
    <p:sldId id="336" r:id="rId17"/>
    <p:sldId id="337" r:id="rId18"/>
    <p:sldId id="33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1" autoAdjust="0"/>
    <p:restoredTop sz="87749" autoAdjust="0"/>
  </p:normalViewPr>
  <p:slideViewPr>
    <p:cSldViewPr snapToGrid="0">
      <p:cViewPr varScale="1">
        <p:scale>
          <a:sx n="57" d="100"/>
          <a:sy n="57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D223E-6817-4232-B3AE-DE21B024670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9FDFB-12E1-4F0D-8B77-16E5B6A1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59DD9-C07A-0F4A-BE38-5AFB42BB2A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4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B9B6-7F23-4968-B5E8-31407CDF6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DAFC1-38B2-04DD-BF8B-67646A1F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6BDBD-64FA-163B-6BC9-6CD77C17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7731D-648B-0CE2-4EF2-B63543FC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BA7F5-879F-C056-9C44-AE87C55A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043A-9CCF-A632-A101-69C16B71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5D11-ADF0-6D56-1361-03BD6953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45E11-3A63-D510-ECC9-E734793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F0B6D-039C-4FFD-5742-F971B0AF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2D5E4-E3DC-45F9-7C25-A09828BA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6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AAC8-D8F1-524B-6AE7-6FDAB9DB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CB0C3-073A-DC3B-1858-D4A02CE5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B3F3B-D4BB-DDC9-B968-69CEA2F6C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27049-656F-8D37-A879-58B8ABF2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2E816-2F82-89E3-12FB-0BB0CB13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7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19DC-4FAD-43F8-ADC7-A107AB97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8325-2169-A2C0-4194-E6955B3A8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2EC92-B06A-D8BF-2838-9C7D45328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D06FF-47A1-6516-C82A-75601F06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33223-6444-E249-9E7D-3269CBBF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1DAB7-86F7-7F63-3C4A-8BD57007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0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2881-8A04-8CC5-9C37-52E337FF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0BE9F-88DA-6497-5AC0-8E8C166B4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E107E-F399-92D0-AC7C-BAF883E06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C589B-C55E-6715-9F5A-1BBC8DF0B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CD752-A132-0E3A-6547-B9603E6C6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5745E-79F5-F1F2-7CA5-DE3EF405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AA18D-6697-449D-3254-86A70410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23578F-A433-581D-03DA-4E016A59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06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FC6F-5EE7-AA9B-F0B9-A7EC3462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75B2A-55E7-4338-4C42-2A53E353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01CDC-43C3-FC4E-B138-7456E045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6FA83-B8A5-88DD-7660-3606D7E60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0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CA294-7114-4913-4274-0E304307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18A75-37B5-06F9-2777-5D5E5CB80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8E85-9678-4219-B329-03716DA4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3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E5AFD-CC25-1A96-B17D-3C7D354E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C9241-E25A-185E-1252-FC79E93E2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E0BB9-8A3D-4510-16BB-32898E13A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D4742-6826-DDD9-5484-16F9B38C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B9AB1-51AF-909B-EE64-82692EEF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486BF-DC96-EDBD-8448-FBBA4C00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F397-5B67-5B24-4AA2-58D556DE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CE4B6-116F-3D46-7CF1-1F423CAF1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DF3F2-E2E3-049E-5C4B-64D8E0714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87025-C484-43F3-C978-EB855F29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4E88C-469C-36D6-0255-3B381D9F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82AEC-5702-2A5C-B7CC-4BF41FCA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1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8F5E-6D44-9D94-305E-BE1343CBE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59894-ADF6-4AA6-BC13-03DAB26EB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27FBF-1413-6A0E-6578-7D9F04E0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0B0B2-71F1-339E-1DE9-81AA7908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3E03B-6403-3FDC-310E-7563AF43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3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F3FC8-7318-67CC-8426-CC1ABB786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4FF16-870F-66F9-B990-387EB6111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8DBE0-7721-77FF-7188-28CBA73F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0840-9A52-95E4-C371-B1CC5BD4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0E77C-F6AA-A81D-26EB-C1DE3806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61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565C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Background Shapes">
            <a:extLst>
              <a:ext uri="{FF2B5EF4-FFF2-40B4-BE49-F238E27FC236}">
                <a16:creationId xmlns:a16="http://schemas.microsoft.com/office/drawing/2014/main" id="{9F3873DB-5FCF-1F40-77F6-E9AB7B78E572}"/>
              </a:ext>
            </a:extLst>
          </p:cNvPr>
          <p:cNvGrpSpPr/>
          <p:nvPr userDrawn="1"/>
        </p:nvGrpSpPr>
        <p:grpSpPr>
          <a:xfrm>
            <a:off x="0" y="-6096"/>
            <a:ext cx="12192000" cy="6864096"/>
            <a:chOff x="0" y="10633"/>
            <a:chExt cx="9144000" cy="5148072"/>
          </a:xfrm>
        </p:grpSpPr>
        <p:sp>
          <p:nvSpPr>
            <p:cNvPr id="14" name="Middle Shape"/>
            <p:cNvSpPr>
              <a:spLocks noChangeAspect="1"/>
            </p:cNvSpPr>
            <p:nvPr userDrawn="1"/>
          </p:nvSpPr>
          <p:spPr>
            <a:xfrm>
              <a:off x="1166486" y="10633"/>
              <a:ext cx="2872114" cy="5148072"/>
            </a:xfrm>
            <a:prstGeom prst="homePlate">
              <a:avLst>
                <a:gd name="adj" fmla="val 36290"/>
              </a:avLst>
            </a:prstGeom>
            <a:solidFill>
              <a:srgbClr val="3D455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Right Shape"/>
            <p:cNvSpPr>
              <a:spLocks noChangeAspect="1"/>
            </p:cNvSpPr>
            <p:nvPr userDrawn="1"/>
          </p:nvSpPr>
          <p:spPr>
            <a:xfrm>
              <a:off x="0" y="10633"/>
              <a:ext cx="2872114" cy="5148072"/>
            </a:xfrm>
            <a:prstGeom prst="homePlate">
              <a:avLst>
                <a:gd name="adj" fmla="val 36290"/>
              </a:avLst>
            </a:prstGeom>
            <a:solidFill>
              <a:srgbClr val="2D2E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Bottom Rectangle"/>
            <p:cNvSpPr/>
            <p:nvPr userDrawn="1"/>
          </p:nvSpPr>
          <p:spPr>
            <a:xfrm flipV="1">
              <a:off x="0" y="3784423"/>
              <a:ext cx="9144000" cy="137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0" name="Title Placeholder"/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842538"/>
            <a:ext cx="10363200" cy="2249636"/>
          </a:xfrm>
        </p:spPr>
        <p:txBody>
          <a:bodyPr lIns="0" tIns="0" rIns="0" bIns="0" anchor="b">
            <a:noAutofit/>
          </a:bodyPr>
          <a:lstStyle>
            <a:lvl1pPr algn="r">
              <a:defRPr sz="3733" b="1" i="0" spc="-133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 (Must Define for Accessibility)</a:t>
            </a:r>
          </a:p>
        </p:txBody>
      </p:sp>
      <p:sp>
        <p:nvSpPr>
          <p:cNvPr id="11" name="Presenter Name(s) Placeholder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14400" y="3196281"/>
            <a:ext cx="10363200" cy="1492187"/>
          </a:xfrm>
        </p:spPr>
        <p:txBody>
          <a:bodyPr lIns="0" tIns="0" rIns="0" bIns="0" anchor="t">
            <a:noAutofit/>
          </a:bodyPr>
          <a:lstStyle>
            <a:lvl1pPr marL="0" indent="0" algn="r">
              <a:buNone/>
              <a:defRPr sz="2400" b="0" i="1" spc="133">
                <a:solidFill>
                  <a:schemeClr val="bg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 Name(s) here </a:t>
            </a:r>
          </a:p>
        </p:txBody>
      </p:sp>
      <p:sp>
        <p:nvSpPr>
          <p:cNvPr id="6" name="Series or DOC Placeholder">
            <a:extLst>
              <a:ext uri="{FF2B5EF4-FFF2-40B4-BE49-F238E27FC236}">
                <a16:creationId xmlns:a16="http://schemas.microsoft.com/office/drawing/2014/main" id="{9EE865F6-0E84-D9FC-FD11-E023F4FCCFC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14400" y="277284"/>
            <a:ext cx="10363200" cy="362392"/>
          </a:xfrm>
        </p:spPr>
        <p:txBody>
          <a:bodyPr anchor="b"/>
          <a:lstStyle>
            <a:lvl1pPr marL="0" indent="0" algn="r">
              <a:buNone/>
              <a:defRPr sz="2400" b="1" spc="-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Series or DOC Name</a:t>
            </a:r>
          </a:p>
        </p:txBody>
      </p:sp>
      <p:pic>
        <p:nvPicPr>
          <p:cNvPr id="13" name="NCI Logo" descr="NCI-Logo-Color.png"/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2" y="5710324"/>
            <a:ext cx="5324687" cy="508000"/>
          </a:xfrm>
          <a:prstGeom prst="rect">
            <a:avLst/>
          </a:prstGeom>
        </p:spPr>
      </p:pic>
      <p:sp>
        <p:nvSpPr>
          <p:cNvPr id="9" name="Date Placeholder"/>
          <p:cNvSpPr>
            <a:spLocks noGrp="1"/>
          </p:cNvSpPr>
          <p:nvPr userDrawn="1">
            <p:ph type="dt" sz="half" idx="2"/>
          </p:nvPr>
        </p:nvSpPr>
        <p:spPr>
          <a:xfrm>
            <a:off x="6543890" y="5727700"/>
            <a:ext cx="4733711" cy="4745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lang="en-US" sz="2400" smtClean="0">
                <a:solidFill>
                  <a:srgbClr val="3D455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90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10F501-5571-EA5B-C3B6-21F652F38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AE783-A750-B323-D238-1B77BCB39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611F6-AF44-4220-1DB2-44DD06293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26345-2098-4969-9C6A-8B57C82B92B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8B544-92A7-38A6-11FE-8E59C1A2C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635D-1F8C-A205-A7A7-3EAFEFEAA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F726F-3010-4DBD-8CB1-C9E4B21E1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9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D91500-407A-4416-2AF9-B2B41AAE3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433" y="804672"/>
            <a:ext cx="10363200" cy="2624328"/>
          </a:xfrm>
        </p:spPr>
        <p:txBody>
          <a:bodyPr/>
          <a:lstStyle/>
          <a:p>
            <a:br>
              <a:rPr lang="en-US" b="0" dirty="0"/>
            </a:br>
            <a:r>
              <a:rPr lang="en-US" sz="3200" b="0" dirty="0"/>
              <a:t> </a:t>
            </a:r>
            <a:r>
              <a:rPr lang="en-US" sz="3600" dirty="0"/>
              <a:t>Heritability Analysis of Complex Traits &amp; Diseases:</a:t>
            </a:r>
            <a:br>
              <a:rPr lang="en-US" sz="3200" dirty="0"/>
            </a:br>
            <a:r>
              <a:rPr lang="en-US" sz="3200" dirty="0"/>
              <a:t>Twin Study, Family Study, and GWAS</a:t>
            </a:r>
            <a:br>
              <a:rPr lang="en-US" dirty="0"/>
            </a:br>
            <a:br>
              <a:rPr lang="en-US" dirty="0"/>
            </a:br>
            <a:endParaRPr lang="en-US" sz="2667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0FD816-F417-46BA-5FBD-E3A895B06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433" y="3258265"/>
            <a:ext cx="10363200" cy="1266963"/>
          </a:xfrm>
        </p:spPr>
        <p:txBody>
          <a:bodyPr/>
          <a:lstStyle/>
          <a:p>
            <a:r>
              <a:rPr lang="en-US" dirty="0"/>
              <a:t>Jianxin Shi, PhD</a:t>
            </a:r>
          </a:p>
          <a:p>
            <a:r>
              <a:rPr lang="en-US" dirty="0"/>
              <a:t>Jianxin.Shi@nih.gov</a:t>
            </a:r>
          </a:p>
          <a:p>
            <a:r>
              <a:rPr lang="en-US" dirty="0"/>
              <a:t>Biostatistics Branch, Division of Cancer Epidemiology &amp; Genetics</a:t>
            </a:r>
          </a:p>
          <a:p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86438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12A7-A2AD-E537-EA58-5E219C25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9ABE-A937-DB24-6B99-4E0613FF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010"/>
            <a:ext cx="11011422" cy="10127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ACE Model: Estimating Heritability of Height Using Twin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9F48DA-E660-A8D7-3CED-9A9768219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25" y="790309"/>
            <a:ext cx="2974584" cy="32714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94DF0F-C7C8-28E4-FFA8-1CE9A7B03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472" y="790309"/>
            <a:ext cx="3277475" cy="32714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A40F45-AA9E-1884-7563-3AAEA46F3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273" y="790309"/>
            <a:ext cx="2629299" cy="330858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A2CF9A3-7993-50BD-108D-761343251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14931"/>
            <a:ext cx="4580472" cy="266191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7D3E20-527A-AF20-F62D-C36892A97B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693" y="4214930"/>
            <a:ext cx="3385348" cy="264306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CA4255B-5EF7-24DD-59F0-B97632BA1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9818" y="4214930"/>
            <a:ext cx="2910046" cy="264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1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DBDB-54DE-F513-7704-934B183AF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818"/>
            <a:ext cx="10515600" cy="67210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General Phenotypic Variance Partitioning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60408-1178-BD98-843D-AE33F37D9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92" y="901649"/>
            <a:ext cx="3165048" cy="2585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118C89-618B-AD23-0B1A-F2EEF513A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226" y="971944"/>
            <a:ext cx="4354574" cy="2590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65E73D-A430-5F81-398A-CC1AE4F4C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45" y="3848875"/>
            <a:ext cx="5074659" cy="27973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235675-9B57-441F-0748-F42FCBEE8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67" y="3824704"/>
            <a:ext cx="5602588" cy="292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8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DA40-3463-C0F9-7126-B03DCCC7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4"/>
            <a:ext cx="10515600" cy="68575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Estimate Cancer Heritability in Nordic Twin Study: </a:t>
            </a:r>
            <a:br>
              <a:rPr lang="en-US" sz="3600" b="1" dirty="0"/>
            </a:br>
            <a:r>
              <a:rPr lang="en-US" sz="3600" b="1" dirty="0"/>
              <a:t>Liability Threshold mode + ACE</a:t>
            </a:r>
            <a:r>
              <a:rPr lang="en-US" b="1" dirty="0"/>
              <a:t> </a:t>
            </a:r>
            <a:br>
              <a:rPr lang="en-US" b="1" dirty="0"/>
            </a:br>
            <a:endParaRPr lang="en-US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04FF9-B048-B6E2-66C2-40505B3FA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41" y="1352662"/>
            <a:ext cx="2018283" cy="18818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B0C756-1607-581E-D68C-CB24A0E241A7}"/>
                  </a:ext>
                </a:extLst>
              </p:cNvPr>
              <p:cNvSpPr txBox="1"/>
              <p:nvPr/>
            </p:nvSpPr>
            <p:spPr>
              <a:xfrm>
                <a:off x="-72200" y="3261810"/>
                <a:ext cx="340933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Disease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/>
              </a:p>
              <a:p>
                <a:pPr algn="ctr"/>
                <a:r>
                  <a:rPr lang="en-US" b="1" dirty="0"/>
                  <a:t>Prevalence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algn="ctr"/>
                <a:r>
                  <a:rPr lang="en-US" b="1" dirty="0"/>
                  <a:t>Heritability assuming LT model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B0C756-1607-581E-D68C-CB24A0E24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200" y="3261810"/>
                <a:ext cx="3409331" cy="923330"/>
              </a:xfrm>
              <a:prstGeom prst="rect">
                <a:avLst/>
              </a:prstGeom>
              <a:blipFill>
                <a:blip r:embed="rId3"/>
                <a:stretch>
                  <a:fillRect l="-1073" t="-2632" r="-1252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2DDD577-128E-060E-B55D-18DCE4D5BFE7}"/>
              </a:ext>
            </a:extLst>
          </p:cNvPr>
          <p:cNvSpPr txBox="1"/>
          <p:nvPr/>
        </p:nvSpPr>
        <p:spPr>
          <a:xfrm>
            <a:off x="9608536" y="6553447"/>
            <a:ext cx="258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Mucci et al., JAMA, 2016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5B1C8-A438-6A2F-0776-CD8D0910B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30453"/>
            <a:ext cx="5164225" cy="1690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7D6141-C00A-C2DB-D280-A857D904A14C}"/>
              </a:ext>
            </a:extLst>
          </p:cNvPr>
          <p:cNvSpPr txBox="1"/>
          <p:nvPr/>
        </p:nvSpPr>
        <p:spPr>
          <a:xfrm>
            <a:off x="274541" y="6416131"/>
            <a:ext cx="26431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Data for melanoma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3DC653-5471-69DD-A1C5-D15A01E52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463" y="2016414"/>
            <a:ext cx="7611537" cy="571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8A437B-7AE4-AE8D-C6BC-BB343922290D}"/>
              </a:ext>
            </a:extLst>
          </p:cNvPr>
          <p:cNvSpPr txBox="1"/>
          <p:nvPr/>
        </p:nvSpPr>
        <p:spPr>
          <a:xfrm>
            <a:off x="7911950" y="2403328"/>
            <a:ext cx="215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Familial risk 0.196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A110DC-E22F-888C-757C-2C4F5907D1BD}"/>
              </a:ext>
            </a:extLst>
          </p:cNvPr>
          <p:cNvSpPr txBox="1"/>
          <p:nvPr/>
        </p:nvSpPr>
        <p:spPr>
          <a:xfrm>
            <a:off x="10282691" y="2403328"/>
            <a:ext cx="215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Prevalence 1.2%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88E2F-67B9-1FFA-5DFB-EF2FCD5B32F3}"/>
              </a:ext>
            </a:extLst>
          </p:cNvPr>
          <p:cNvSpPr txBox="1"/>
          <p:nvPr/>
        </p:nvSpPr>
        <p:spPr>
          <a:xfrm>
            <a:off x="4580463" y="1678552"/>
            <a:ext cx="49430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For MZ twins, we have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137229-5AF5-A33B-9927-AA8932182414}"/>
                  </a:ext>
                </a:extLst>
              </p:cNvPr>
              <p:cNvSpPr txBox="1"/>
              <p:nvPr/>
            </p:nvSpPr>
            <p:spPr>
              <a:xfrm>
                <a:off x="4580463" y="2642071"/>
                <a:ext cx="286437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𝑴𝒁</m:t>
                        </m:r>
                      </m:sub>
                    </m:sSub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𝟔𝟎</m:t>
                    </m:r>
                  </m:oMath>
                </a14:m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137229-5AF5-A33B-9927-AA8932182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463" y="2642071"/>
                <a:ext cx="286437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8BA30A-EE15-C0D0-809F-8566BEFBA0AF}"/>
                  </a:ext>
                </a:extLst>
              </p:cNvPr>
              <p:cNvSpPr txBox="1"/>
              <p:nvPr/>
            </p:nvSpPr>
            <p:spPr>
              <a:xfrm>
                <a:off x="2935080" y="3210342"/>
                <a:ext cx="615514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𝑫𝒁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8BA30A-EE15-C0D0-809F-8566BEFBA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80" y="3210342"/>
                <a:ext cx="615514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03541BC-7137-F9C4-E555-655FB41C22F6}"/>
                  </a:ext>
                </a:extLst>
              </p:cNvPr>
              <p:cNvSpPr txBox="1"/>
              <p:nvPr/>
            </p:nvSpPr>
            <p:spPr>
              <a:xfrm>
                <a:off x="5145519" y="4112646"/>
                <a:ext cx="7046481" cy="501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b="1" dirty="0">
                    <a:solidFill>
                      <a:srgbClr val="C00000"/>
                    </a:solidFill>
                  </a:rPr>
                  <a:t>ACE: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𝑴𝒁</m:t>
                            </m:r>
                          </m:sub>
                        </m:sSub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𝑫𝒁</m:t>
                            </m:r>
                          </m:sub>
                        </m:sSub>
                      </m:e>
                    </m:d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US" sz="2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03541BC-7137-F9C4-E555-655FB41C2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519" y="4112646"/>
                <a:ext cx="7046481" cy="501484"/>
              </a:xfrm>
              <a:prstGeom prst="rect">
                <a:avLst/>
              </a:prstGeom>
              <a:blipFill>
                <a:blip r:embed="rId8"/>
                <a:stretch>
                  <a:fillRect l="-1557" t="-9756" b="-30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6F023DA-9624-1CE1-16FF-16C63DD68DE6}"/>
              </a:ext>
            </a:extLst>
          </p:cNvPr>
          <p:cNvSpPr txBox="1"/>
          <p:nvPr/>
        </p:nvSpPr>
        <p:spPr>
          <a:xfrm>
            <a:off x="274541" y="939992"/>
            <a:ext cx="236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Diabetes: H1AC &gt;6.5 </a:t>
            </a:r>
          </a:p>
        </p:txBody>
      </p:sp>
    </p:spTree>
    <p:extLst>
      <p:ext uri="{BB962C8B-B14F-4D97-AF65-F5344CB8AC3E}">
        <p14:creationId xmlns:p14="http://schemas.microsoft.com/office/powerpoint/2010/main" val="150779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18" grpId="0"/>
      <p:bldP spid="19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57C7D-8F53-6A58-1CE5-D67EDD03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59" y="-22104"/>
            <a:ext cx="7633318" cy="6880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B1CAAE-0EF5-31F5-7D0F-73C5C8AB2155}"/>
              </a:ext>
            </a:extLst>
          </p:cNvPr>
          <p:cNvSpPr txBox="1"/>
          <p:nvPr/>
        </p:nvSpPr>
        <p:spPr>
          <a:xfrm>
            <a:off x="9608536" y="6553447"/>
            <a:ext cx="258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Mucci et al., JAMA, 2016</a:t>
            </a:r>
          </a:p>
        </p:txBody>
      </p:sp>
    </p:spTree>
    <p:extLst>
      <p:ext uri="{BB962C8B-B14F-4D97-AF65-F5344CB8AC3E}">
        <p14:creationId xmlns:p14="http://schemas.microsoft.com/office/powerpoint/2010/main" val="170259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91D0-1B8C-4963-AEA6-4F9B3D85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6002"/>
          </a:xfrm>
        </p:spPr>
        <p:txBody>
          <a:bodyPr>
            <a:normAutofit/>
          </a:bodyPr>
          <a:lstStyle/>
          <a:p>
            <a:r>
              <a:rPr lang="en-US" sz="3600" b="1" dirty="0"/>
              <a:t>Variance Component Model for Heritability Estimate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D8693-D159-288A-946A-5CC7DD74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990"/>
            <a:ext cx="5076967" cy="1466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FF9F6-8D35-FF3E-7A2A-51B103341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758" y="2628920"/>
            <a:ext cx="10413242" cy="422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6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7188-3BFA-5CC6-6EFF-19CAD476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3458-5CE4-8B97-78ED-26C877A4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409"/>
            <a:ext cx="10515600" cy="79493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Missing Heritability Problem in GWAS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799F-DB41-47F1-DFC6-9D022182E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469"/>
            <a:ext cx="11076296" cy="5071494"/>
          </a:xfrm>
        </p:spPr>
        <p:txBody>
          <a:bodyPr>
            <a:normAutofit/>
          </a:bodyPr>
          <a:lstStyle/>
          <a:p>
            <a:r>
              <a:rPr lang="en-US" dirty="0"/>
              <a:t>High heritability from twins/families (80% height)</a:t>
            </a:r>
          </a:p>
          <a:p>
            <a:r>
              <a:rPr lang="en-US" dirty="0"/>
              <a:t>Small phenotypic variance explained by identified SNPs (2% in 2007)</a:t>
            </a:r>
          </a:p>
          <a:p>
            <a:r>
              <a:rPr lang="en-US" dirty="0"/>
              <a:t>Wrong estimate in twins/families or limited power of GWAS?</a:t>
            </a:r>
          </a:p>
          <a:p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02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B719-BB4C-D370-E043-54F3C6E8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7D3D-DD24-DEC8-29C2-C935CEE9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409"/>
            <a:ext cx="10515600" cy="79493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Missing Heritability Problem in GWAS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74029-297A-614B-ACB6-F3D99AA27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5469"/>
                <a:ext cx="11076296" cy="507149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High heritability from twins/families (80% height)</a:t>
                </a:r>
              </a:p>
              <a:p>
                <a:r>
                  <a:rPr lang="en-US" dirty="0"/>
                  <a:t>Small phenotypic variance explained by identified SNPs (&lt;1% in 2007)</a:t>
                </a:r>
              </a:p>
              <a:p>
                <a:r>
                  <a:rPr lang="en-US" dirty="0"/>
                  <a:t>Wrong estimate in twins/families or limited power of GWAS?</a:t>
                </a:r>
              </a:p>
              <a:p>
                <a:r>
                  <a:rPr lang="en-US" dirty="0"/>
                  <a:t>An additive model in GWAS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SNPs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subjects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we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and thus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𝑖𝑡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Can we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with limited sample sizes? </a:t>
                </a:r>
              </a:p>
              <a:p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74029-297A-614B-ACB6-F3D99AA27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5469"/>
                <a:ext cx="11076296" cy="5071494"/>
              </a:xfrm>
              <a:blipFill>
                <a:blip r:embed="rId2"/>
                <a:stretch>
                  <a:fillRect l="-991" t="-2043" r="-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29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CE14-076A-CDA1-C9EC-6D82839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939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Estimate GWAS Chip Heritability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0A03E2-BD99-9048-809B-05E209A942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78424"/>
                <a:ext cx="11608559" cy="5295331"/>
              </a:xfrm>
            </p:spPr>
            <p:txBody>
              <a:bodyPr/>
              <a:lstStyle/>
              <a:p>
                <a:r>
                  <a:rPr lang="en-US" dirty="0"/>
                  <a:t>GWAS Chip Heritability</a:t>
                </a:r>
              </a:p>
              <a:p>
                <a:pPr lvl="1"/>
                <a:r>
                  <a:rPr lang="en-US" dirty="0"/>
                  <a:t>Additive model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for all SNPs in GWAS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 mean 0 and variance 1</a:t>
                </a:r>
              </a:p>
              <a:p>
                <a:pPr lvl="1"/>
                <a:r>
                  <a:rPr lang="en-US" dirty="0"/>
                  <a:t>Random effect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 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Variance partitioning: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Chip heritability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, phenotypic variance explained by all SNPs in GWAS</a:t>
                </a:r>
              </a:p>
              <a:p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using linear mixed model</a:t>
                </a:r>
              </a:p>
              <a:p>
                <a:pPr lvl="1"/>
                <a:r>
                  <a:rPr lang="en-US" dirty="0"/>
                  <a:t>Genetic similarity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𝑀𝑉𝑁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Average information REML can be used to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Height: 3925 unrelated subjects, 300,000 SNPs,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=45%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=7.5%)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0A03E2-BD99-9048-809B-05E209A94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78424"/>
                <a:ext cx="11608559" cy="5295331"/>
              </a:xfrm>
              <a:blipFill>
                <a:blip r:embed="rId2"/>
                <a:stretch>
                  <a:fillRect l="-892" t="-3567" b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371707A-64BE-C53C-2ED4-E247A2460681}"/>
              </a:ext>
            </a:extLst>
          </p:cNvPr>
          <p:cNvSpPr txBox="1"/>
          <p:nvPr/>
        </p:nvSpPr>
        <p:spPr>
          <a:xfrm>
            <a:off x="9086150" y="6490862"/>
            <a:ext cx="309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Yang et al., Nat. Genet. , 2010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EBF6D-0BAF-B224-9896-9F6314C9CB5B}"/>
              </a:ext>
            </a:extLst>
          </p:cNvPr>
          <p:cNvSpPr txBox="1"/>
          <p:nvPr/>
        </p:nvSpPr>
        <p:spPr>
          <a:xfrm>
            <a:off x="0" y="6582309"/>
            <a:ext cx="181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Software: GCTA</a:t>
            </a:r>
          </a:p>
        </p:txBody>
      </p:sp>
    </p:spTree>
    <p:extLst>
      <p:ext uri="{BB962C8B-B14F-4D97-AF65-F5344CB8AC3E}">
        <p14:creationId xmlns:p14="http://schemas.microsoft.com/office/powerpoint/2010/main" val="94205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814E-DD82-19C3-8884-C941EC9D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GWAS of Human Height: Progression and Future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40FF8-F926-065B-D5A1-F83C65BCB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6455"/>
            <a:ext cx="12192000" cy="45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90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48BE-5963-7B46-C8D3-F6B986B4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8936-72AC-DD29-47AF-072BC04C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75" y="8300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GWAS of Human BMI: Progression and Future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B889F1-88A6-E495-31FE-0642DCCDC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9372"/>
            <a:ext cx="12192000" cy="45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22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BA8D-E37D-4B82-2545-156A7D4B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/>
          </a:bodyPr>
          <a:lstStyle/>
          <a:p>
            <a:r>
              <a:rPr lang="en-US" sz="3600" b="1" dirty="0"/>
              <a:t>Additional Comments for Estimating Chip Heritability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44101-CA29-B302-3A62-F861C7A2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3833"/>
            <a:ext cx="10994409" cy="4853130"/>
          </a:xfrm>
        </p:spPr>
        <p:txBody>
          <a:bodyPr/>
          <a:lstStyle/>
          <a:p>
            <a:r>
              <a:rPr lang="en-US" dirty="0"/>
              <a:t>Require individual genotype data to calculate GRM</a:t>
            </a:r>
          </a:p>
          <a:p>
            <a:r>
              <a:rPr lang="en-US" dirty="0"/>
              <a:t>At least 5000 subjects to have </a:t>
            </a:r>
            <a:r>
              <a:rPr lang="en-US" dirty="0" err="1"/>
              <a:t>s.e.</a:t>
            </a:r>
            <a:r>
              <a:rPr lang="en-US" dirty="0"/>
              <a:t> &lt; 5%</a:t>
            </a:r>
          </a:p>
          <a:p>
            <a:r>
              <a:rPr lang="en-US" dirty="0"/>
              <a:t>More SNPs included (e.g., imputed), higher chip heritability</a:t>
            </a:r>
          </a:p>
          <a:p>
            <a:r>
              <a:rPr lang="en-US" dirty="0"/>
              <a:t>Refined models to allow effect size to depend on MAF</a:t>
            </a:r>
          </a:p>
          <a:p>
            <a:r>
              <a:rPr lang="en-US" dirty="0"/>
              <a:t>When sample size is very large (e.g., UK </a:t>
            </a:r>
            <a:r>
              <a:rPr lang="en-US" dirty="0" err="1"/>
              <a:t>BioBank</a:t>
            </a:r>
            <a:r>
              <a:rPr lang="en-US" dirty="0"/>
              <a:t>), rare variants can be included into the linear mixed model.  </a:t>
            </a:r>
          </a:p>
          <a:p>
            <a:pPr lvl="1"/>
            <a:r>
              <a:rPr lang="en-US" dirty="0"/>
              <a:t>N=350,000; MAF 0.01%-1%</a:t>
            </a:r>
          </a:p>
          <a:p>
            <a:pPr lvl="1"/>
            <a:r>
              <a:rPr lang="en-US" dirty="0"/>
              <a:t>Whole genome sequencing: common + rare variants ~ 88% family heritability</a:t>
            </a:r>
          </a:p>
          <a:p>
            <a:pPr lvl="1"/>
            <a:r>
              <a:rPr lang="en-US" dirty="0" err="1"/>
              <a:t>Wainschtein</a:t>
            </a:r>
            <a:r>
              <a:rPr lang="en-US" dirty="0"/>
              <a:t> et al, Nature, 2026</a:t>
            </a:r>
          </a:p>
        </p:txBody>
      </p:sp>
    </p:spTree>
    <p:extLst>
      <p:ext uri="{BB962C8B-B14F-4D97-AF65-F5344CB8AC3E}">
        <p14:creationId xmlns:p14="http://schemas.microsoft.com/office/powerpoint/2010/main" val="1902152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F49D-7BD7-9C1C-F0E7-F9416B2F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Estimate GWAS Chip Heritability for Binary Diseases:</a:t>
            </a:r>
            <a:br>
              <a:rPr lang="en-US" sz="3600" b="1" dirty="0"/>
            </a:br>
            <a:r>
              <a:rPr lang="en-US" sz="3600" b="1" dirty="0"/>
              <a:t>Linear Mixed model + Liability Threshold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AE353-3F9F-B0C1-18E9-DA350A70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0463"/>
            <a:ext cx="4648849" cy="2591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CA79C4-5008-69D3-7F26-AF6B06A8F974}"/>
                  </a:ext>
                </a:extLst>
              </p:cNvPr>
              <p:cNvSpPr txBox="1"/>
              <p:nvPr/>
            </p:nvSpPr>
            <p:spPr>
              <a:xfrm>
                <a:off x="742665" y="4885899"/>
                <a:ext cx="354273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CA79C4-5008-69D3-7F26-AF6B06A8F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65" y="4885899"/>
                <a:ext cx="3542731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6E5671B-B83D-FEA2-6DF4-119A714DF091}"/>
              </a:ext>
            </a:extLst>
          </p:cNvPr>
          <p:cNvSpPr txBox="1"/>
          <p:nvPr/>
        </p:nvSpPr>
        <p:spPr>
          <a:xfrm>
            <a:off x="4514151" y="6488668"/>
            <a:ext cx="780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Yang et al., Nat. Genet. , 2010; Lett el at., AJHG, 2011, Yang et al., AJHG, 2011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86FF04-6419-99BB-558A-22D0F8A70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005" y="1646194"/>
            <a:ext cx="3986374" cy="41630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500ECC-9A61-ADEF-36F3-FC137B77A7F1}"/>
              </a:ext>
            </a:extLst>
          </p:cNvPr>
          <p:cNvSpPr txBox="1"/>
          <p:nvPr/>
        </p:nvSpPr>
        <p:spPr>
          <a:xfrm>
            <a:off x="7573791" y="5794947"/>
            <a:ext cx="3780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Correction for oversampled cases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A14B9B-B0A0-0B93-7AE8-A050A3B97E60}"/>
              </a:ext>
            </a:extLst>
          </p:cNvPr>
          <p:cNvSpPr txBox="1"/>
          <p:nvPr/>
        </p:nvSpPr>
        <p:spPr>
          <a:xfrm>
            <a:off x="0" y="6582309"/>
            <a:ext cx="181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Software: GCTA</a:t>
            </a:r>
          </a:p>
        </p:txBody>
      </p:sp>
    </p:spTree>
    <p:extLst>
      <p:ext uri="{BB962C8B-B14F-4D97-AF65-F5344CB8AC3E}">
        <p14:creationId xmlns:p14="http://schemas.microsoft.com/office/powerpoint/2010/main" val="368781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9FFC-593E-72E4-01C3-F8BAD584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904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Linear Mixed Model vs. LD Score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59914-5570-F1BB-B699-4BAD7A716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901"/>
            <a:ext cx="10515600" cy="4662062"/>
          </a:xfrm>
        </p:spPr>
        <p:txBody>
          <a:bodyPr/>
          <a:lstStyle/>
          <a:p>
            <a:r>
              <a:rPr lang="en-US" dirty="0"/>
              <a:t>GCTA based on mixed model requires individual level data</a:t>
            </a:r>
          </a:p>
          <a:p>
            <a:r>
              <a:rPr lang="en-US" dirty="0"/>
              <a:t>Modern GWAS are now typically based on meta-analysis, which collects summary statistics (beta/OR, </a:t>
            </a:r>
            <a:r>
              <a:rPr lang="en-US" dirty="0" err="1"/>
              <a:t>s.e.</a:t>
            </a:r>
            <a:r>
              <a:rPr lang="en-US" dirty="0"/>
              <a:t>) from studies. </a:t>
            </a:r>
          </a:p>
          <a:p>
            <a:r>
              <a:rPr lang="en-US" dirty="0"/>
              <a:t>Can we estimate heritability using GWAS summary statistics and what’s the price to pay?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81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AC67-F93D-8810-62F0-98602171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682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Statistical Framework of LDSC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F28FCC-66EE-54DD-9AAE-BF10C79C2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9367"/>
                <a:ext cx="10515600" cy="475759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nary>
                  </m:oMath>
                </a14:m>
                <a:r>
                  <a:rPr lang="en-US" dirty="0"/>
                  <a:t>.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be marginal estimate, then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  and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be the heritability per SNP, then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 dirty="0"/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is LD score of the variant and can be pre-calculated based on existing large scale refence data of the same ancestry.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F28FCC-66EE-54DD-9AAE-BF10C79C2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9367"/>
                <a:ext cx="10515600" cy="4757596"/>
              </a:xfrm>
              <a:blipFill>
                <a:blip r:embed="rId2"/>
                <a:stretch>
                  <a:fillRect l="-1043" t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45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EED32-354E-B744-DA5F-789B049E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F3BC-2C0A-257B-C749-3254E360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682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Statistical Framework of LDSC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B4A2B-8C0D-F631-27AD-88F49B6EE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42" y="1067183"/>
            <a:ext cx="3754929" cy="2186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F88BD-52B5-27FE-969F-49750A2B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491" y="1253394"/>
            <a:ext cx="4039164" cy="5239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339AE8-0B5E-90CF-2FB7-93FE49ED7B78}"/>
                  </a:ext>
                </a:extLst>
              </p:cNvPr>
              <p:cNvSpPr txBox="1"/>
              <p:nvPr/>
            </p:nvSpPr>
            <p:spPr>
              <a:xfrm>
                <a:off x="354842" y="3283557"/>
                <a:ext cx="3804183" cy="672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LD scores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b="1" dirty="0"/>
                  <a:t> can be pre-calculated </a:t>
                </a:r>
              </a:p>
              <a:p>
                <a:pPr algn="ctr"/>
                <a:r>
                  <a:rPr lang="en-US" b="1" dirty="0"/>
                  <a:t>for all variants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339AE8-0B5E-90CF-2FB7-93FE49ED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42" y="3283557"/>
                <a:ext cx="3804183" cy="672620"/>
              </a:xfrm>
              <a:prstGeom prst="rect">
                <a:avLst/>
              </a:prstGeom>
              <a:blipFill>
                <a:blip r:embed="rId4"/>
                <a:stretch>
                  <a:fillRect l="-1282" t="-3636" r="-481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833820-9B80-419C-A540-3D1DF9F96CEB}"/>
              </a:ext>
            </a:extLst>
          </p:cNvPr>
          <p:cNvSpPr txBox="1"/>
          <p:nvPr/>
        </p:nvSpPr>
        <p:spPr>
          <a:xfrm>
            <a:off x="6417491" y="6488668"/>
            <a:ext cx="5662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Bulik-Sullivan  et al., NG, 2014; Finucane et al, NG, 2015</a:t>
            </a:r>
          </a:p>
        </p:txBody>
      </p:sp>
    </p:spTree>
    <p:extLst>
      <p:ext uri="{BB962C8B-B14F-4D97-AF65-F5344CB8AC3E}">
        <p14:creationId xmlns:p14="http://schemas.microsoft.com/office/powerpoint/2010/main" val="3318651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5981-7F18-4E48-BAE7-BE7C7A8A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317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Heritability Enrichment Analysis Using LDSC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537BB5-6E8D-AA08-25FD-17BA552CD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549"/>
                <a:ext cx="5257800" cy="464841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Given a breast cancer GWAS (5M SNPs) and a DNA damage pathway (20K SNPs), is the pathway enriched for breast cancer risk? 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𝑜𝑣𝑒𝑟𝑎𝑙𝑙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𝐷𝑁𝐴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𝐷𝑁𝐴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𝑜𝑣𝑒𝑟𝑎𝑙𝑙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537BB5-6E8D-AA08-25FD-17BA552CD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549"/>
                <a:ext cx="5257800" cy="4648414"/>
              </a:xfrm>
              <a:blipFill>
                <a:blip r:embed="rId2"/>
                <a:stretch>
                  <a:fillRect l="-1624" t="-1706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D6D5A1B-F71F-EDD6-A6F4-5FDB2CC2C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475" y="1156137"/>
            <a:ext cx="4798325" cy="5393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DA2A26-5D47-59B7-FFD8-76976D8307DD}"/>
              </a:ext>
            </a:extLst>
          </p:cNvPr>
          <p:cNvSpPr txBox="1"/>
          <p:nvPr/>
        </p:nvSpPr>
        <p:spPr>
          <a:xfrm>
            <a:off x="9434015" y="6549375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Finucane et al, NG,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04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FE36-FCAE-E550-3537-3BE59376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52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Summary of Heritability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9161D-2CF2-6912-C68A-C5757B0F8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310"/>
            <a:ext cx="10515600" cy="4716653"/>
          </a:xfrm>
        </p:spPr>
        <p:txBody>
          <a:bodyPr/>
          <a:lstStyle/>
          <a:p>
            <a:r>
              <a:rPr lang="en-US" dirty="0"/>
              <a:t>Family-based heritability analysis includes additive, dominant effects, but may be inflated by shared environment effects. Small sample size is needed. </a:t>
            </a:r>
          </a:p>
          <a:p>
            <a:r>
              <a:rPr lang="en-US" dirty="0"/>
              <a:t>GWAS chip heritability includes additive effects for common variants, may further include rare variants and dominant effects. Large sample size requires. </a:t>
            </a:r>
          </a:p>
          <a:p>
            <a:r>
              <a:rPr lang="en-US" dirty="0"/>
              <a:t>LDSC uses summary statistics but loses about 70% statistical efficiency compared to GCTA.  </a:t>
            </a:r>
          </a:p>
          <a:p>
            <a:r>
              <a:rPr lang="en-US" dirty="0"/>
              <a:t>LDSC can infer population stratification! </a:t>
            </a:r>
          </a:p>
        </p:txBody>
      </p:sp>
    </p:spTree>
    <p:extLst>
      <p:ext uri="{BB962C8B-B14F-4D97-AF65-F5344CB8AC3E}">
        <p14:creationId xmlns:p14="http://schemas.microsoft.com/office/powerpoint/2010/main" val="409606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15525</TotalTime>
  <Words>885</Words>
  <Application>Microsoft Office PowerPoint</Application>
  <PresentationFormat>Widescreen</PresentationFormat>
  <Paragraphs>90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  Heritability Analysis of Complex Traits &amp; Diseases: Twin Study, Family Study, and GWAS  </vt:lpstr>
      <vt:lpstr>ACE Model: Estimating Heritability of Height Using Twin Data</vt:lpstr>
      <vt:lpstr>General Phenotypic Variance Partitioning</vt:lpstr>
      <vt:lpstr>Estimate Cancer Heritability in Nordic Twin Study:  Liability Threshold mode + ACE  </vt:lpstr>
      <vt:lpstr>PowerPoint Presentation</vt:lpstr>
      <vt:lpstr>Variance Component Model for Heritability Estimate</vt:lpstr>
      <vt:lpstr>Missing Heritability Problem in GWAS</vt:lpstr>
      <vt:lpstr>Missing Heritability Problem in GWAS</vt:lpstr>
      <vt:lpstr>Estimate GWAS Chip Heritability </vt:lpstr>
      <vt:lpstr>GWAS of Human Height: Progression and Future</vt:lpstr>
      <vt:lpstr>GWAS of Human BMI: Progression and Future</vt:lpstr>
      <vt:lpstr>Additional Comments for Estimating Chip Heritability</vt:lpstr>
      <vt:lpstr>Estimate GWAS Chip Heritability for Binary Diseases: Linear Mixed model + Liability Threshold model</vt:lpstr>
      <vt:lpstr>Linear Mixed Model vs. LD Score Regression</vt:lpstr>
      <vt:lpstr>Statistical Framework of LDSC</vt:lpstr>
      <vt:lpstr>Statistical Framework of LDSC</vt:lpstr>
      <vt:lpstr>Heritability Enrichment Analysis Using LDSC</vt:lpstr>
      <vt:lpstr>Summary of Heritability Analysis</vt:lpstr>
    </vt:vector>
  </TitlesOfParts>
  <Company>National Cancer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Shi, Jianxin (NIH/NCI) [E]</dc:creator>
  <cp:lastModifiedBy>Shi, Jianxin (NIH/NCI) [E]</cp:lastModifiedBy>
  <cp:revision>480</cp:revision>
  <dcterms:created xsi:type="dcterms:W3CDTF">2026-04-19T15:57:34Z</dcterms:created>
  <dcterms:modified xsi:type="dcterms:W3CDTF">2026-10-14T14:44:44Z</dcterms:modified>
</cp:coreProperties>
</file>